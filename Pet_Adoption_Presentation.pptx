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บทนำ" id="{09081123-9e59-5a9d-ab57-243233ab50b5}">
          <p14:sldIdLst>
            <p14:sldId id="256"/>
            <p14:sldId id="257"/>
          </p14:sldIdLst>
        </p14:section>
        <p14:section name="1. ปัญหาและ Dataset" id="{0a910246-3da8-beb8-12ff-41fd957a1a6d}">
          <p14:sldIdLst>
            <p14:sldId id="258"/>
            <p14:sldId id="259"/>
            <p14:sldId id="260"/>
          </p14:sldIdLst>
        </p14:section>
        <p14:section name="2. Preprocessing" id="{3f64f373-b888-69c2-ac8b-9d64a4b86197}">
          <p14:sldIdLst>
            <p14:sldId id="261"/>
            <p14:sldId id="262"/>
          </p14:sldIdLst>
        </p14:section>
        <p14:section name="3. โมเดล" id="{75a548ff-34bd-5482-9558-e1f0afc8709c}">
          <p14:sldIdLst>
            <p14:sldId id="263"/>
            <p14:sldId id="264"/>
          </p14:sldIdLst>
        </p14:section>
        <p14:section name="4. ประเมินผล" id="{8ef4e0c2-513b-e7df-6a49-827cb6aa752e}">
          <p14:sldIdLst>
            <p14:sldId id="265"/>
            <p14:sldId id="266"/>
            <p14:sldId id="267"/>
          </p14:sldIdLst>
        </p14:section>
        <p14:section name="5. Streamlit" id="{e090d006-55c5-fd2d-0f8b-5bf7d026c166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D405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3D405B"/>
                </a:solidFill>
                <a:latin typeface="+mn-lt"/>
              </a:rPr>
              <a:t>ROC-AUC และ F1 (macro) บน Test set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E07A5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D4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Baseline</c:v>
                  </c:pt>
                  <c:pt idx="1">
                    <c:v>Logistic</c:v>
                  </c:pt>
                  <c:pt idx="2">
                    <c:v>KNN</c:v>
                  </c:pt>
                  <c:pt idx="3">
                    <c:v>Decision Tree</c:v>
                  </c:pt>
                  <c:pt idx="4">
                    <c:v>Random Forest</c:v>
                  </c:pt>
                  <c:pt idx="5">
                    <c:v>Grad. Boosting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</c:v>
                </c:pt>
                <c:pt idx="1">
                  <c:v>0.6939</c:v>
                </c:pt>
                <c:pt idx="2">
                  <c:v>0.6898</c:v>
                </c:pt>
                <c:pt idx="3">
                  <c:v>0.7198</c:v>
                </c:pt>
                <c:pt idx="4">
                  <c:v>0.7592</c:v>
                </c:pt>
                <c:pt idx="5">
                  <c:v>0.7549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(macro)</c:v>
                </c:pt>
              </c:strCache>
            </c:strRef>
          </c:tx>
          <c:spPr>
            <a:solidFill>
              <a:srgbClr val="81B29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D4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Baseline</c:v>
                  </c:pt>
                  <c:pt idx="1">
                    <c:v>Logistic</c:v>
                  </c:pt>
                  <c:pt idx="2">
                    <c:v>KNN</c:v>
                  </c:pt>
                  <c:pt idx="3">
                    <c:v>Decision Tree</c:v>
                  </c:pt>
                  <c:pt idx="4">
                    <c:v>Random Forest</c:v>
                  </c:pt>
                  <c:pt idx="5">
                    <c:v>Grad. Boosting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0.4226</c:v>
                </c:pt>
                <c:pt idx="1">
                  <c:v>0.5669</c:v>
                </c:pt>
                <c:pt idx="2">
                  <c:v>0.5596</c:v>
                </c:pt>
                <c:pt idx="3">
                  <c:v>0.6025</c:v>
                </c:pt>
                <c:pt idx="4">
                  <c:v>0.6165</c:v>
                </c:pt>
                <c:pt idx="5">
                  <c:v>0.6307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2B2D4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2D4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6E1DC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8D9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D405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3D405B"/>
                </a:solidFill>
                <a:latin typeface="+mn-lt"/>
              </a:rPr>
              <a:t>Train vs Test Accuracy (ตรวจ Overfit)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solidFill>
              <a:srgbClr val="8A8D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D42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Logistic</c:v>
                  </c:pt>
                  <c:pt idx="1">
                    <c:v>KNN</c:v>
                  </c:pt>
                  <c:pt idx="2">
                    <c:v>Decision Tree</c:v>
                  </c:pt>
                  <c:pt idx="3">
                    <c:v>Random Forest</c:v>
                  </c:pt>
                  <c:pt idx="4">
                    <c:v>Grad. Boost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0.7499</c:v>
                </c:pt>
                <c:pt idx="1">
                  <c:v>0.7683</c:v>
                </c:pt>
                <c:pt idx="2">
                  <c:v>0.7686</c:v>
                </c:pt>
                <c:pt idx="3">
                  <c:v>0.8382</c:v>
                </c:pt>
                <c:pt idx="4">
                  <c:v>0.8576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</c:v>
                </c:pt>
              </c:strCache>
            </c:strRef>
          </c:tx>
          <c:spPr>
            <a:solidFill>
              <a:srgbClr val="E07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D42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Logistic</c:v>
                  </c:pt>
                  <c:pt idx="1">
                    <c:v>KNN</c:v>
                  </c:pt>
                  <c:pt idx="2">
                    <c:v>Decision Tree</c:v>
                  </c:pt>
                  <c:pt idx="3">
                    <c:v>Random Forest</c:v>
                  </c:pt>
                  <c:pt idx="4">
                    <c:v>Grad. Boost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0.742</c:v>
                </c:pt>
                <c:pt idx="1">
                  <c:v>0.7411</c:v>
                </c:pt>
                <c:pt idx="2">
                  <c:v>0.7464</c:v>
                </c:pt>
                <c:pt idx="3">
                  <c:v>0.76</c:v>
                </c:pt>
                <c:pt idx="4">
                  <c:v>0.7468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B2D42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2D4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6"/>
        </c:scaling>
        <c:delete val="0"/>
        <c:axPos val="b"/>
        <c:majorGridlines>
          <c:spPr>
            <a:ln w="6350" cap="flat">
              <a:solidFill>
                <a:srgbClr val="E6E1DC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8D9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นางสาวภิญนิตา ซิ่วมณี  |  664245042  |  หมู่เรียน 66/44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pet-adoption-042.streamlit.app" TargetMode="External"/><Relationship Id="rId2" Type="http://schemas.openxmlformats.org/officeDocument/2006/relationships/hyperlink" Target="https://github.com/Phinnita/Pet-Adoption-Prediction" TargetMode="External"/><Relationship Id="rId3" Type="http://schemas.openxmlformats.org/officeDocument/2006/relationships/image" Target="../media/image-1-1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et-adoption-042.streamlit.app" TargetMode="External"/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Phinnita/Pet-Adoption-Prediction" TargetMode="External"/><Relationship Id="rId2" Type="http://schemas.openxmlformats.org/officeDocument/2006/relationships/hyperlink" Target="https://pet-adoption-042.streamlit.app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68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Mini Project Machine Learning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258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Pet Adoption Prediction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402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2CC8F"/>
                </a:solidFill>
              </a:rPr>
              <a:t>ระบบทำนายโอกาสการได้รับการรับเลี้ยงของสุนัขและแมวด้วย Machine Learning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918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CEA"/>
                </a:solidFill>
              </a:rPr>
              <a:t>ข้อมูลจริงจาก PetFinder.my  ·  5 โมเดล  ·  Python + scikit-learn + Streamlit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257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CEA"/>
                </a:solidFill>
              </a:rPr>
              <a:t>Web: </a:t>
            </a:r>
            <a:pPr indent="0" marL="0">
              <a:buNone/>
            </a:pPr>
            <a:r>
              <a:rPr lang="en-US" sz="1300" u="sng" dirty="0">
                <a:solidFill>
                  <a:srgbClr val="FFFFFF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https://pet-adoption-042.streamlit.app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6235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CEA"/>
                </a:solidFill>
              </a:rPr>
              <a:t>GitHub: </a:t>
            </a:r>
            <a:pPr indent="0" marL="0">
              <a:buNone/>
            </a:pPr>
            <a:r>
              <a:rPr lang="en-US" sz="1300" u="sng" dirty="0">
                <a:solidFill>
                  <a:srgbClr val="FFFFFF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https://github.com/Phinnita/Pet-Adoption-Prediction</a:t>
            </a:r>
            <a:endParaRPr lang="en-US" sz="1300" dirty="0"/>
          </a:p>
        </p:txBody>
      </p:sp>
      <p:pic>
        <p:nvPicPr>
          <p:cNvPr id="8" name="profile" descr="img/profil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005840"/>
            <a:ext cx="2468880" cy="2468880"/>
          </a:xfrm>
          <a:prstGeom prst="ellipse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680960" y="370332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นางสาวภิญนิตา ซิ่วมณี</a:t>
            </a:r>
            <a:endParaRPr lang="en-US" sz="20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D8DCEA"/>
                </a:solidFill>
              </a:rPr>
              <a:t>รหัสนักศึกษา 664245042</a:t>
            </a:r>
            <a:endParaRPr lang="en-US" sz="20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D8DCEA"/>
                </a:solidFill>
              </a:rPr>
              <a:t>หมู่เรียน 66/44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หัวข้อการนำเสนอ</a:t>
            </a:r>
            <a:endParaRPr lang="en-US" sz="2800" dirty="0"/>
          </a:p>
        </p:txBody>
      </p:sp>
      <p:sp>
        <p:nvSpPr>
          <p:cNvPr id="3" name="agenda 1"/>
          <p:cNvSpPr/>
          <p:nvPr/>
        </p:nvSpPr>
        <p:spPr>
          <a:xfrm>
            <a:off x="731520" y="13716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3258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การกำหนดปัญหาและ Dataset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ปัญหาที่ต้องการแก้ ทำไมเลือกข้อมูลชุดนี้ และการสำรวจข้อมูล</a:t>
            </a:r>
            <a:endParaRPr lang="en-US" sz="1800" dirty="0"/>
          </a:p>
        </p:txBody>
      </p:sp>
      <p:sp>
        <p:nvSpPr>
          <p:cNvPr id="6" name="agenda 2"/>
          <p:cNvSpPr/>
          <p:nvPr/>
        </p:nvSpPr>
        <p:spPr>
          <a:xfrm>
            <a:off x="731520" y="2359152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3591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31343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Data Preprocessing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ตรวจข้อมูล Feature Engineering จัดการ Outlier Encoding Scaling</a:t>
            </a:r>
            <a:endParaRPr lang="en-US" sz="1800" dirty="0"/>
          </a:p>
        </p:txBody>
      </p:sp>
      <p:sp>
        <p:nvSpPr>
          <p:cNvPr id="9" name="agenda 3"/>
          <p:cNvSpPr/>
          <p:nvPr/>
        </p:nvSpPr>
        <p:spPr>
          <a:xfrm>
            <a:off x="731520" y="3346704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3467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300984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การสร้างโมเดล ML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ทฤษฎีของ 5 โมเดล และตัวชี้วัดที่ใช้</a:t>
            </a:r>
            <a:endParaRPr lang="en-US" sz="1800" dirty="0"/>
          </a:p>
        </p:txBody>
      </p:sp>
      <p:sp>
        <p:nvSpPr>
          <p:cNvPr id="12" name="agenda 4"/>
          <p:cNvSpPr/>
          <p:nvPr/>
        </p:nvSpPr>
        <p:spPr>
          <a:xfrm>
            <a:off x="731520" y="4334256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3342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4288536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การประเมินและเปรียบเทียบโมเดล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ตารางและกราฟเปรียบเทียบผลลัพธ์</a:t>
            </a:r>
            <a:endParaRPr lang="en-US" sz="1800" dirty="0"/>
          </a:p>
        </p:txBody>
      </p:sp>
      <p:sp>
        <p:nvSpPr>
          <p:cNvPr id="15" name="agenda 5"/>
          <p:cNvSpPr/>
          <p:nvPr/>
        </p:nvSpPr>
        <p:spPr>
          <a:xfrm>
            <a:off x="731520" y="5321808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5321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527608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Streamlit Application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การใช้งานเว็บไซต์จริง</a:t>
            </a:r>
            <a:endParaRPr lang="en-US" sz="1800" dirty="0"/>
          </a:p>
        </p:txBody>
      </p:sp>
      <p:sp>
        <p:nvSpPr>
          <p:cNvPr id="18" name="frame f_002.jpg"/>
          <p:cNvSpPr/>
          <p:nvPr/>
        </p:nvSpPr>
        <p:spPr>
          <a:xfrm>
            <a:off x="6949440" y="1463040"/>
            <a:ext cx="4663440" cy="2879217"/>
          </a:xfrm>
          <a:prstGeom prst="roundRect">
            <a:avLst>
              <a:gd name="adj" fmla="val 2541"/>
            </a:avLst>
          </a:prstGeom>
          <a:solidFill>
            <a:schemeClr val="bg2"/>
          </a:solidFill>
          <a:ln w="9525">
            <a:solidFill>
              <a:srgbClr val="DCD6D0"/>
            </a:solidFill>
            <a:prstDash val="solid"/>
          </a:ln>
          <a:effectLst>
            <a:outerShdw sx="100000" sy="100000" kx="0" ky="0" algn="bl" rotWithShape="0" blurRad="101600" dist="38100" dir="5400000">
              <a:srgbClr val="2B2D42">
                <a:alpha val="16000"/>
              </a:srgbClr>
            </a:outerShdw>
          </a:effectLst>
        </p:spPr>
      </p:sp>
      <p:sp>
        <p:nvSpPr>
          <p:cNvPr id="19" name="dot"/>
          <p:cNvSpPr/>
          <p:nvPr/>
        </p:nvSpPr>
        <p:spPr>
          <a:xfrm>
            <a:off x="7086600" y="154533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0" name="dot"/>
          <p:cNvSpPr/>
          <p:nvPr/>
        </p:nvSpPr>
        <p:spPr>
          <a:xfrm>
            <a:off x="7242048" y="154533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1" name="dot"/>
          <p:cNvSpPr/>
          <p:nvPr/>
        </p:nvSpPr>
        <p:spPr>
          <a:xfrm>
            <a:off x="7397496" y="154533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35240" y="14904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pet-adoption-042.streamlit.app</a:t>
            </a:r>
            <a:endParaRPr lang="en-US" sz="900" dirty="0"/>
          </a:p>
        </p:txBody>
      </p:sp>
      <p:pic>
        <p:nvPicPr>
          <p:cNvPr id="23" name="f_002.jpg" descr="img/f_0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28" y="1719072"/>
            <a:ext cx="4626864" cy="2604897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6949440" y="4415409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หน้าแรกของเว็บ: ข้อมูลผู้พัฒนาและหัวข้อในเว็บไซต์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การกำหนดปัญหา</a:t>
            </a:r>
            <a:endParaRPr lang="en-US" sz="2800" dirty="0"/>
          </a:p>
        </p:txBody>
      </p:sp>
      <p:sp>
        <p:nvSpPr>
          <p:cNvPr id="3" name="section number"/>
          <p:cNvSpPr/>
          <p:nvPr/>
        </p:nvSpPr>
        <p:spPr>
          <a:xfrm>
            <a:off x="10972800" y="38404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สัตว์จรจัดจำนวนมากรอคนรับเลี้ยงในศูนย์พักพิง ถ้ารู้ล่วงหน้าว่าตัวไหนมีโอกาสได้บ้านต่ำ ศูนย์ฯ จะช่วยได้ตรงจุด เช่น ถ่ายรูปเพิ่ม เขียนประกาศให้ละเอียดขึ้น ฉีดวัคซีน หรือลดค่าธรรมเนียม</a:t>
            </a:r>
            <a:endParaRPr lang="en-US" sz="1600" dirty="0"/>
          </a:p>
        </p:txBody>
      </p:sp>
      <p:sp>
        <p:nvSpPr>
          <p:cNvPr id="6" name="card คำถามที่ต้องการตอบ"/>
          <p:cNvSpPr/>
          <p:nvPr/>
        </p:nvSpPr>
        <p:spPr>
          <a:xfrm>
            <a:off x="548640" y="2240280"/>
            <a:ext cx="539496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350008"/>
            <a:ext cx="50292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คำถามที่ต้องการตอบ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สัตว์เลี้ยงตัวนี้จะถูกรับเลี้ยงภายใน 100 วันหรือไม่</a:t>
            </a:r>
            <a:endParaRPr lang="en-US" sz="1500" dirty="0"/>
          </a:p>
        </p:txBody>
      </p:sp>
      <p:sp>
        <p:nvSpPr>
          <p:cNvPr id="8" name="card ประเภทงาน"/>
          <p:cNvSpPr/>
          <p:nvPr/>
        </p:nvSpPr>
        <p:spPr>
          <a:xfrm>
            <a:off x="6217920" y="2240280"/>
            <a:ext cx="539496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2350008"/>
            <a:ext cx="50292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</a:rPr>
              <a:t>ประเภทงาน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Binary Classification (Supervised Learning)</a:t>
            </a:r>
            <a:endParaRPr lang="en-US" sz="1500" dirty="0"/>
          </a:p>
        </p:txBody>
      </p:sp>
      <p:sp>
        <p:nvSpPr>
          <p:cNvPr id="10" name="card Target: Adopted"/>
          <p:cNvSpPr/>
          <p:nvPr/>
        </p:nvSpPr>
        <p:spPr>
          <a:xfrm>
            <a:off x="548640" y="3886200"/>
            <a:ext cx="1106424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995928"/>
            <a:ext cx="106984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Target: Adopted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= 1 เมื่อ AdoptionSpeed เป็น 0-3 (ได้บ้านภายใน 100 วัน)   ·   = 0 เมื่อ AdoptionSpeed = 4 (ไม่ได้บ้านภายใน 100 วัน)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1206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11,394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806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สุนัขและแมว (หลังตัดข้อมูลซ้ำ)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343400" y="51206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73.2%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4343400" y="5806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ได้บ้านภายใน 100 วัน (ข้อมูลไม่สมดุล)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51206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14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8138160" y="5806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features: ตัวเลข หมวดหมู่ และข้อความ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ทำไมเลือกชุดข้อมูล PetFinder</a:t>
            </a:r>
            <a:endParaRPr lang="en-US" sz="2800" dirty="0"/>
          </a:p>
        </p:txBody>
      </p:sp>
      <p:sp>
        <p:nvSpPr>
          <p:cNvPr id="3" name="section number"/>
          <p:cNvSpPr/>
          <p:nvPr/>
        </p:nvSpPr>
        <p:spPr>
          <a:xfrm>
            <a:off x="10972800" y="38404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card ข้อมูลจริง"/>
          <p:cNvSpPr/>
          <p:nvPr/>
        </p:nvSpPr>
        <p:spPr>
          <a:xfrm>
            <a:off x="548640" y="1234440"/>
            <a:ext cx="26060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344168"/>
            <a:ext cx="22402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ข้อมูลจริง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จากประกาศหาบ้านบน PetFinder.my ประเทศมาเลเซีย</a:t>
            </a:r>
            <a:endParaRPr lang="en-US" sz="1500" dirty="0"/>
          </a:p>
        </p:txBody>
      </p:sp>
      <p:sp>
        <p:nvSpPr>
          <p:cNvPr id="7" name="card มีประโยชน์ต่อสังคม"/>
          <p:cNvSpPr/>
          <p:nvPr/>
        </p:nvSpPr>
        <p:spPr>
          <a:xfrm>
            <a:off x="3337560" y="1234440"/>
            <a:ext cx="26060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344168"/>
            <a:ext cx="22402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มีประโยชน์ต่อสังคม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ช่วยศูนย์พักพิงหาบ้านให้สัตว์ได้เร็วขึ้น</a:t>
            </a:r>
            <a:endParaRPr lang="en-US" sz="1500" dirty="0"/>
          </a:p>
        </p:txBody>
      </p:sp>
      <p:sp>
        <p:nvSpPr>
          <p:cNvPr id="9" name="card ขนาดเหมาะสม"/>
          <p:cNvSpPr/>
          <p:nvPr/>
        </p:nvSpPr>
        <p:spPr>
          <a:xfrm>
            <a:off x="548640" y="2834640"/>
            <a:ext cx="26060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944368"/>
            <a:ext cx="22402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ขนาดเหมาะสม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11,537 ตัว มากพอให้โมเดลเรียนรู้ ฝึกบนเว็บได้เร็ว</a:t>
            </a:r>
            <a:endParaRPr lang="en-US" sz="1500" dirty="0"/>
          </a:p>
        </p:txBody>
      </p:sp>
      <p:sp>
        <p:nvSpPr>
          <p:cNvPr id="11" name="card ข้อมูลหลายชนิด"/>
          <p:cNvSpPr/>
          <p:nvPr/>
        </p:nvSpPr>
        <p:spPr>
          <a:xfrm>
            <a:off x="3337560" y="2834640"/>
            <a:ext cx="26060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0440" y="2944368"/>
            <a:ext cx="22402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ข้อมูลหลายชนิด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ตัวเลข หมวดหมู่ ข้อความ ได้ฝึก Preprocessing ครบ</a:t>
            </a:r>
            <a:endParaRPr lang="en-US" sz="1500" dirty="0"/>
          </a:p>
        </p:txBody>
      </p:sp>
      <p:sp>
        <p:nvSpPr>
          <p:cNvPr id="13" name="card ตีความง่าย"/>
          <p:cNvSpPr/>
          <p:nvPr/>
        </p:nvSpPr>
        <p:spPr>
          <a:xfrm>
            <a:off x="548640" y="4434840"/>
            <a:ext cx="26060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544568"/>
            <a:ext cx="22402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</a:rPr>
              <a:t>ตีความง่าย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อายุ จำนวนรูป ค่าธรรมเนียม เข้าใจได้ทันที</a:t>
            </a:r>
            <a:endParaRPr lang="en-US" sz="1500" dirty="0"/>
          </a:p>
        </p:txBody>
      </p:sp>
      <p:sp>
        <p:nvSpPr>
          <p:cNvPr id="15" name="card เป็นที่รู้จัก"/>
          <p:cNvSpPr/>
          <p:nvPr/>
        </p:nvSpPr>
        <p:spPr>
          <a:xfrm>
            <a:off x="3337560" y="4434840"/>
            <a:ext cx="26060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20440" y="4544568"/>
            <a:ext cx="22402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</a:rPr>
              <a:t>เป็นที่รู้จัก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ใช้ในการแข่งขัน Kaggle และบทเรียนของ TensorFlow</a:t>
            </a:r>
            <a:endParaRPr lang="en-US" sz="1500" dirty="0"/>
          </a:p>
        </p:txBody>
      </p:sp>
      <p:sp>
        <p:nvSpPr>
          <p:cNvPr id="17" name="frame f_042.jpg"/>
          <p:cNvSpPr/>
          <p:nvPr/>
        </p:nvSpPr>
        <p:spPr>
          <a:xfrm>
            <a:off x="6355080" y="1371600"/>
            <a:ext cx="5257800" cy="3213545"/>
          </a:xfrm>
          <a:prstGeom prst="roundRect">
            <a:avLst>
              <a:gd name="adj" fmla="val 2276"/>
            </a:avLst>
          </a:prstGeom>
          <a:solidFill>
            <a:schemeClr val="bg2"/>
          </a:solidFill>
          <a:ln w="9525">
            <a:solidFill>
              <a:srgbClr val="DCD6D0"/>
            </a:solidFill>
            <a:prstDash val="solid"/>
          </a:ln>
          <a:effectLst>
            <a:outerShdw sx="100000" sy="100000" kx="0" ky="0" algn="bl" rotWithShape="0" blurRad="101600" dist="38100" dir="5400000">
              <a:srgbClr val="2B2D42">
                <a:alpha val="16000"/>
              </a:srgbClr>
            </a:outerShdw>
          </a:effectLst>
        </p:spPr>
      </p:sp>
      <p:sp>
        <p:nvSpPr>
          <p:cNvPr id="18" name="dot"/>
          <p:cNvSpPr/>
          <p:nvPr/>
        </p:nvSpPr>
        <p:spPr>
          <a:xfrm>
            <a:off x="6492240" y="145389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9" name="dot"/>
          <p:cNvSpPr/>
          <p:nvPr/>
        </p:nvSpPr>
        <p:spPr>
          <a:xfrm>
            <a:off x="6647688" y="145389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0" name="dot"/>
          <p:cNvSpPr/>
          <p:nvPr/>
        </p:nvSpPr>
        <p:spPr>
          <a:xfrm>
            <a:off x="6803136" y="145389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40880" y="1399032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pet-adoption-042.streamlit.app</a:t>
            </a:r>
            <a:endParaRPr lang="en-US" sz="900" dirty="0"/>
          </a:p>
        </p:txBody>
      </p:sp>
      <p:pic>
        <p:nvPicPr>
          <p:cNvPr id="22" name="f_042.jpg" descr="img/f_04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3368" y="1627632"/>
            <a:ext cx="5221224" cy="2939225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6355080" y="4658297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หัวข้อ 1 บนเว็บ: ปัญหา เหตุผล และรายละเอียดข้อมูล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สำรวจข้อมูล (EDA)</a:t>
            </a:r>
            <a:endParaRPr lang="en-US" sz="2800" dirty="0"/>
          </a:p>
        </p:txBody>
      </p:sp>
      <p:sp>
        <p:nvSpPr>
          <p:cNvPr id="3" name="section number"/>
          <p:cNvSpPr/>
          <p:nvPr/>
        </p:nvSpPr>
        <p:spPr>
          <a:xfrm>
            <a:off x="10972800" y="38404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frame f_089.jpg"/>
          <p:cNvSpPr/>
          <p:nvPr/>
        </p:nvSpPr>
        <p:spPr>
          <a:xfrm>
            <a:off x="548640" y="1188720"/>
            <a:ext cx="5394960" cy="3290697"/>
          </a:xfrm>
          <a:prstGeom prst="roundRect">
            <a:avLst>
              <a:gd name="adj" fmla="val 2223"/>
            </a:avLst>
          </a:prstGeom>
          <a:solidFill>
            <a:schemeClr val="bg2"/>
          </a:solidFill>
          <a:ln w="9525">
            <a:solidFill>
              <a:srgbClr val="DCD6D0"/>
            </a:solidFill>
            <a:prstDash val="solid"/>
          </a:ln>
          <a:effectLst>
            <a:outerShdw sx="100000" sy="100000" kx="0" ky="0" algn="bl" rotWithShape="0" blurRad="101600" dist="38100" dir="5400000">
              <a:srgbClr val="2B2D42">
                <a:alpha val="16000"/>
              </a:srgbClr>
            </a:outerShdw>
          </a:effectLst>
        </p:spPr>
      </p:sp>
      <p:sp>
        <p:nvSpPr>
          <p:cNvPr id="6" name="dot"/>
          <p:cNvSpPr/>
          <p:nvPr/>
        </p:nvSpPr>
        <p:spPr>
          <a:xfrm>
            <a:off x="685800" y="127101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dot"/>
          <p:cNvSpPr/>
          <p:nvPr/>
        </p:nvSpPr>
        <p:spPr>
          <a:xfrm>
            <a:off x="841248" y="127101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dot"/>
          <p:cNvSpPr/>
          <p:nvPr/>
        </p:nvSpPr>
        <p:spPr>
          <a:xfrm>
            <a:off x="996696" y="127101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121615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pet-adoption-042.streamlit.app</a:t>
            </a:r>
            <a:endParaRPr lang="en-US" sz="900" dirty="0"/>
          </a:p>
        </p:txBody>
      </p:sp>
      <p:pic>
        <p:nvPicPr>
          <p:cNvPr id="10" name="f_089.jpg" descr="img/f_08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44752"/>
            <a:ext cx="5358384" cy="301637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48640" y="4552569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การกระจายของ AdoptionSpeed และ Target</a:t>
            </a:r>
            <a:endParaRPr lang="en-US" sz="1200" dirty="0"/>
          </a:p>
        </p:txBody>
      </p:sp>
      <p:sp>
        <p:nvSpPr>
          <p:cNvPr id="12" name="frame f_098.jpg"/>
          <p:cNvSpPr/>
          <p:nvPr/>
        </p:nvSpPr>
        <p:spPr>
          <a:xfrm>
            <a:off x="6217920" y="1188720"/>
            <a:ext cx="5394960" cy="3290697"/>
          </a:xfrm>
          <a:prstGeom prst="roundRect">
            <a:avLst>
              <a:gd name="adj" fmla="val 2223"/>
            </a:avLst>
          </a:prstGeom>
          <a:solidFill>
            <a:schemeClr val="bg2"/>
          </a:solidFill>
          <a:ln w="9525">
            <a:solidFill>
              <a:srgbClr val="DCD6D0"/>
            </a:solidFill>
            <a:prstDash val="solid"/>
          </a:ln>
          <a:effectLst>
            <a:outerShdw sx="100000" sy="100000" kx="0" ky="0" algn="bl" rotWithShape="0" blurRad="101600" dist="38100" dir="5400000">
              <a:srgbClr val="2B2D42">
                <a:alpha val="16000"/>
              </a:srgbClr>
            </a:outerShdw>
          </a:effectLst>
        </p:spPr>
      </p:sp>
      <p:sp>
        <p:nvSpPr>
          <p:cNvPr id="13" name="dot"/>
          <p:cNvSpPr/>
          <p:nvPr/>
        </p:nvSpPr>
        <p:spPr>
          <a:xfrm>
            <a:off x="6355080" y="127101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6510528" y="127101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5" name="dot"/>
          <p:cNvSpPr/>
          <p:nvPr/>
        </p:nvSpPr>
        <p:spPr>
          <a:xfrm>
            <a:off x="6665976" y="127101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903720" y="121615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pet-adoption-042.streamlit.app</a:t>
            </a:r>
            <a:endParaRPr lang="en-US" sz="900" dirty="0"/>
          </a:p>
        </p:txBody>
      </p:sp>
      <p:pic>
        <p:nvPicPr>
          <p:cNvPr id="17" name="f_098.jpg" descr="img/f_098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444752"/>
            <a:ext cx="5358384" cy="3016377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217920" y="4552569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อัตราการได้บ้านแยกตามปัจจัย (เส้นประ = ค่าเฉลี่ย)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49834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ข้อมูลไม่สมดุล: ได้บ้าน 73.2% ไม่ได้บ้าน 26.8%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อายุน้อย (0-3 เดือน) ได้บ้านมากที่สุด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ประกาศที่มีรูปมากได้บ้านมากกว่าประกาศไม่มีรูป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Data Preprocessing</a:t>
            </a:r>
            <a:endParaRPr lang="en-US" sz="2800" dirty="0"/>
          </a:p>
        </p:txBody>
      </p:sp>
      <p:sp>
        <p:nvSpPr>
          <p:cNvPr id="3" name="section number"/>
          <p:cNvSpPr/>
          <p:nvPr/>
        </p:nvSpPr>
        <p:spPr>
          <a:xfrm>
            <a:off x="10972800" y="38404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5" name="step 1"/>
          <p:cNvSpPr/>
          <p:nvPr/>
        </p:nvSpPr>
        <p:spPr>
          <a:xfrm>
            <a:off x="548640" y="1289304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89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23444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ตรวจ Missing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Description ว่าง 9 แถว แทนด้วยข้อความว่าง</a:t>
            </a:r>
            <a:endParaRPr lang="en-US" sz="1300" dirty="0"/>
          </a:p>
        </p:txBody>
      </p:sp>
      <p:sp>
        <p:nvSpPr>
          <p:cNvPr id="8" name="step 2"/>
          <p:cNvSpPr/>
          <p:nvPr/>
        </p:nvSpPr>
        <p:spPr>
          <a:xfrm>
            <a:off x="548640" y="1837944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837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78308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ตัดข้อมูลซ้ำ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drop_duplicates() ตัดออก 143 แถว</a:t>
            </a:r>
            <a:endParaRPr lang="en-US" sz="1300" dirty="0"/>
          </a:p>
        </p:txBody>
      </p:sp>
      <p:sp>
        <p:nvSpPr>
          <p:cNvPr id="11" name="step 3"/>
          <p:cNvSpPr/>
          <p:nvPr/>
        </p:nvSpPr>
        <p:spPr>
          <a:xfrm>
            <a:off x="548640" y="2386584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386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33172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สร้าง Target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AdoptionSpeed 0-3 = 1, 4 = 0</a:t>
            </a:r>
            <a:endParaRPr lang="en-US" sz="1300" dirty="0"/>
          </a:p>
        </p:txBody>
      </p:sp>
      <p:sp>
        <p:nvSpPr>
          <p:cNvPr id="14" name="step 4"/>
          <p:cNvSpPr/>
          <p:nvPr/>
        </p:nvSpPr>
        <p:spPr>
          <a:xfrm>
            <a:off x="548640" y="2935224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935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288036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Feature Engineering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นับคำ จัดกลุ่มพันธุ์ ตัวแปร 0/1</a:t>
            </a:r>
            <a:endParaRPr lang="en-US" sz="1300" dirty="0"/>
          </a:p>
        </p:txBody>
      </p:sp>
      <p:sp>
        <p:nvSpPr>
          <p:cNvPr id="17" name="step 5"/>
          <p:cNvSpPr/>
          <p:nvPr/>
        </p:nvSpPr>
        <p:spPr>
          <a:xfrm>
            <a:off x="548640" y="3483864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342900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จัดการ Outlier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Clip Age, Fee, PhotoAmt, DescLength ที่ P1-P99</a:t>
            </a:r>
            <a:endParaRPr lang="en-US" sz="1300" dirty="0"/>
          </a:p>
        </p:txBody>
      </p:sp>
      <p:sp>
        <p:nvSpPr>
          <p:cNvPr id="20" name="step 6"/>
          <p:cNvSpPr/>
          <p:nvPr/>
        </p:nvSpPr>
        <p:spPr>
          <a:xfrm>
            <a:off x="548640" y="4032504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032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97764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Encoding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Ordinal (ขนาด ขน สุขภาพ) + One-Hot (สี วัคซีน ทำหมัน พันธุ์)</a:t>
            </a:r>
            <a:endParaRPr lang="en-US" sz="1300" dirty="0"/>
          </a:p>
        </p:txBody>
      </p:sp>
      <p:sp>
        <p:nvSpPr>
          <p:cNvPr id="23" name="step 7"/>
          <p:cNvSpPr/>
          <p:nvPr/>
        </p:nvSpPr>
        <p:spPr>
          <a:xfrm>
            <a:off x="548640" y="4581144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4581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452628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Feature Scaling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StandardScaler: mean 0, std 1</a:t>
            </a:r>
            <a:endParaRPr lang="en-US" sz="1300" dirty="0"/>
          </a:p>
        </p:txBody>
      </p:sp>
      <p:sp>
        <p:nvSpPr>
          <p:cNvPr id="26" name="step 8"/>
          <p:cNvSpPr/>
          <p:nvPr/>
        </p:nvSpPr>
        <p:spPr>
          <a:xfrm>
            <a:off x="548640" y="5129784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5129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51560" y="507492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แบ่ง Train / Test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Stratified 80 : 20 (9,115 / 2,279)</a:t>
            </a:r>
            <a:endParaRPr lang="en-US" sz="1300" dirty="0"/>
          </a:p>
        </p:txBody>
      </p:sp>
      <p:sp>
        <p:nvSpPr>
          <p:cNvPr id="29" name="step 9"/>
          <p:cNvSpPr/>
          <p:nvPr/>
        </p:nvSpPr>
        <p:spPr>
          <a:xfrm>
            <a:off x="548640" y="5678424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5678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9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" y="562356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ข้อมูลไม่สมดุล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stratify, วัดด้วย F1 macro + ROC-AUC, class_weight</a:t>
            </a:r>
            <a:endParaRPr lang="en-US" sz="1300" dirty="0"/>
          </a:p>
        </p:txBody>
      </p:sp>
      <p:sp>
        <p:nvSpPr>
          <p:cNvPr id="32" name="frame f_106.jpg"/>
          <p:cNvSpPr/>
          <p:nvPr/>
        </p:nvSpPr>
        <p:spPr>
          <a:xfrm>
            <a:off x="6355080" y="1371600"/>
            <a:ext cx="5257800" cy="3213545"/>
          </a:xfrm>
          <a:prstGeom prst="roundRect">
            <a:avLst>
              <a:gd name="adj" fmla="val 2276"/>
            </a:avLst>
          </a:prstGeom>
          <a:solidFill>
            <a:schemeClr val="bg2"/>
          </a:solidFill>
          <a:ln w="9525">
            <a:solidFill>
              <a:srgbClr val="DCD6D0"/>
            </a:solidFill>
            <a:prstDash val="solid"/>
          </a:ln>
          <a:effectLst>
            <a:outerShdw sx="100000" sy="100000" kx="0" ky="0" algn="bl" rotWithShape="0" blurRad="101600" dist="38100" dir="5400000">
              <a:srgbClr val="2B2D42">
                <a:alpha val="16000"/>
              </a:srgbClr>
            </a:outerShdw>
          </a:effectLst>
        </p:spPr>
      </p:sp>
      <p:sp>
        <p:nvSpPr>
          <p:cNvPr id="33" name="dot"/>
          <p:cNvSpPr/>
          <p:nvPr/>
        </p:nvSpPr>
        <p:spPr>
          <a:xfrm>
            <a:off x="6492240" y="145389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4" name="dot"/>
          <p:cNvSpPr/>
          <p:nvPr/>
        </p:nvSpPr>
        <p:spPr>
          <a:xfrm>
            <a:off x="6647688" y="145389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35" name="dot"/>
          <p:cNvSpPr/>
          <p:nvPr/>
        </p:nvSpPr>
        <p:spPr>
          <a:xfrm>
            <a:off x="6803136" y="145389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040880" y="1399032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pet-adoption-042.streamlit.app</a:t>
            </a:r>
            <a:endParaRPr lang="en-US" sz="900" dirty="0"/>
          </a:p>
        </p:txBody>
      </p:sp>
      <p:pic>
        <p:nvPicPr>
          <p:cNvPr id="37" name="f_106.jpg" descr="img/f_1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3368" y="1627632"/>
            <a:ext cx="5221224" cy="2939225"/>
          </a:xfrm>
          <a:prstGeom prst="rect">
            <a:avLst/>
          </a:prstGeom>
        </p:spPr>
      </p:pic>
      <p:sp>
        <p:nvSpPr>
          <p:cNvPr id="38" name="Text 35"/>
          <p:cNvSpPr txBox="1"/>
          <p:nvPr/>
        </p:nvSpPr>
        <p:spPr>
          <a:xfrm>
            <a:off x="6355080" y="4658297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หัวข้อ 2 บนเว็บ: สรุปขั้นตอนและผลตรวจข้อมูล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Feature Engineering และ Pipeline</a:t>
            </a:r>
            <a:endParaRPr lang="en-US" sz="2800" dirty="0"/>
          </a:p>
        </p:txBody>
      </p:sp>
      <p:sp>
        <p:nvSpPr>
          <p:cNvPr id="3" name="section number"/>
          <p:cNvSpPr/>
          <p:nvPr/>
        </p:nvSpPr>
        <p:spPr>
          <a:xfrm>
            <a:off x="10972800" y="38404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65836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463040"/>
                <a:gridCol w="3383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 ใหม่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40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สร้างจาก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40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วิธีการ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405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</a:rPr>
                        <a:t>DescLength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</a:rPr>
                        <a:t>นับจำนวนคำ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</a:rPr>
                        <a:t>IsDog / IsMale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</a:rPr>
                        <a:t>Type / Gender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</a:rPr>
                        <a:t>แปลงเป็น 0/1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</a:rPr>
                        <a:t>IsMixedBreed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</a:rPr>
                        <a:t>Breed1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</a:rPr>
                        <a:t>พันธุ์ผสม = 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</a:rPr>
                        <a:t>BreedGroup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</a:rPr>
                        <a:t>Breed1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</a:rPr>
                        <a:t>10 พันธุ์ยอดนิยม + Other (166 → 11 หมวด)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</a:rPr>
                        <a:t>HasColor2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</a:rPr>
                        <a:t>Color2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</a:rPr>
                        <a:t>มีสีรอง = 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</a:rPr>
                        <a:t>IsFree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</a:rPr>
                        <a:t>Fee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</a:rPr>
                        <a:t>ค่าธรรมเนียม 0 = 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</a:rPr>
                        <a:t>MaturitySize ฯลฯ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</a:rPr>
                        <a:t>ข้อความ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D42"/>
                          </a:solidFill>
                        </a:rPr>
                        <a:t>Small=1, Medium=2, Large=3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flow 0"/>
          <p:cNvSpPr/>
          <p:nvPr/>
        </p:nvSpPr>
        <p:spPr>
          <a:xfrm>
            <a:off x="7863840" y="1234440"/>
            <a:ext cx="374904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0" y="123444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ข้อมูลดิบ</a:t>
            </a:r>
            <a:endParaRPr lang="en-US" sz="1400" dirty="0"/>
          </a:p>
        </p:txBody>
      </p:sp>
      <p:sp>
        <p:nvSpPr>
          <p:cNvPr id="8" name="arrow 0"/>
          <p:cNvSpPr/>
          <p:nvPr/>
        </p:nvSpPr>
        <p:spPr>
          <a:xfrm>
            <a:off x="9601200" y="1984248"/>
            <a:ext cx="274320" cy="201168"/>
          </a:xfrm>
          <a:prstGeom prst="down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flow 1"/>
          <p:cNvSpPr/>
          <p:nvPr/>
        </p:nvSpPr>
        <p:spPr>
          <a:xfrm>
            <a:off x="7863840" y="2221992"/>
            <a:ext cx="374904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863840" y="2221992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Feature Engineering</a:t>
            </a:r>
            <a:endParaRPr lang="en-US" sz="1400" dirty="0"/>
          </a:p>
        </p:txBody>
      </p:sp>
      <p:sp>
        <p:nvSpPr>
          <p:cNvPr id="11" name="arrow 1"/>
          <p:cNvSpPr/>
          <p:nvPr/>
        </p:nvSpPr>
        <p:spPr>
          <a:xfrm>
            <a:off x="9601200" y="2971800"/>
            <a:ext cx="274320" cy="201168"/>
          </a:xfrm>
          <a:prstGeom prst="down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flow 2"/>
          <p:cNvSpPr/>
          <p:nvPr/>
        </p:nvSpPr>
        <p:spPr>
          <a:xfrm>
            <a:off x="7863840" y="3209544"/>
            <a:ext cx="374904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863840" y="3209544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Clip Outlier</a:t>
            </a:r>
            <a:endParaRPr lang="en-US" sz="1400" dirty="0"/>
          </a:p>
        </p:txBody>
      </p:sp>
      <p:sp>
        <p:nvSpPr>
          <p:cNvPr id="14" name="arrow 2"/>
          <p:cNvSpPr/>
          <p:nvPr/>
        </p:nvSpPr>
        <p:spPr>
          <a:xfrm>
            <a:off x="9601200" y="3959352"/>
            <a:ext cx="274320" cy="201168"/>
          </a:xfrm>
          <a:prstGeom prst="down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flow 3"/>
          <p:cNvSpPr/>
          <p:nvPr/>
        </p:nvSpPr>
        <p:spPr>
          <a:xfrm>
            <a:off x="7863840" y="4197096"/>
            <a:ext cx="3749040" cy="713232"/>
          </a:xfrm>
          <a:prstGeom prst="roundRect">
            <a:avLst>
              <a:gd name="adj" fmla="val 128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863840" y="4197096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ColumnTransformer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Scaler + One-Hot</a:t>
            </a:r>
            <a:endParaRPr lang="en-US" sz="1400" dirty="0"/>
          </a:p>
        </p:txBody>
      </p:sp>
      <p:sp>
        <p:nvSpPr>
          <p:cNvPr id="17" name="arrow 3"/>
          <p:cNvSpPr/>
          <p:nvPr/>
        </p:nvSpPr>
        <p:spPr>
          <a:xfrm>
            <a:off x="9601200" y="4946904"/>
            <a:ext cx="274320" cy="201168"/>
          </a:xfrm>
          <a:prstGeom prst="down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flow 4"/>
          <p:cNvSpPr/>
          <p:nvPr/>
        </p:nvSpPr>
        <p:spPr>
          <a:xfrm>
            <a:off x="7863840" y="5184648"/>
            <a:ext cx="3749040" cy="713232"/>
          </a:xfrm>
          <a:prstGeom prst="roundRect">
            <a:avLst>
              <a:gd name="adj" fmla="val 12821"/>
            </a:avLst>
          </a:prstGeom>
          <a:solidFill>
            <a:schemeClr val="accent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863840" y="5184648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โมเดล ML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ทั้งหมดอยู่ใน scikit-learn Pipeline: fit กับ Train set เท่านั้น ป้องกัน Data Leakage  ·  16 features → 36 features หลัง One-Hot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การสร้างโมเดล ML: 5 โมเดล</a:t>
            </a:r>
            <a:endParaRPr lang="en-US" sz="2800" dirty="0"/>
          </a:p>
        </p:txBody>
      </p:sp>
      <p:sp>
        <p:nvSpPr>
          <p:cNvPr id="3" name="section number"/>
          <p:cNvSpPr/>
          <p:nvPr/>
        </p:nvSpPr>
        <p:spPr>
          <a:xfrm>
            <a:off x="10972800" y="38404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5" name="model Logistic Regression"/>
          <p:cNvSpPr/>
          <p:nvPr/>
        </p:nvSpPr>
        <p:spPr>
          <a:xfrm>
            <a:off x="548640" y="1280160"/>
            <a:ext cx="2103120" cy="374904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um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03120"/>
            <a:ext cx="1783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Logistic Regression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Linear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ผลรวมถ่วงน้ำหนัก → Sigmoid ได้ความน่าจะเป็น 0-1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Hyperparameters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</a:t>
            </a:r>
            <a:endParaRPr lang="en-US" sz="1600" dirty="0"/>
          </a:p>
        </p:txBody>
      </p:sp>
      <p:sp>
        <p:nvSpPr>
          <p:cNvPr id="9" name="model K-Nearest Neighbor"/>
          <p:cNvSpPr/>
          <p:nvPr/>
        </p:nvSpPr>
        <p:spPr>
          <a:xfrm>
            <a:off x="2798064" y="1280160"/>
            <a:ext cx="2103120" cy="374904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num"/>
          <p:cNvSpPr/>
          <p:nvPr/>
        </p:nvSpPr>
        <p:spPr>
          <a:xfrm>
            <a:off x="2980944" y="1463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80944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980944" y="2103120"/>
            <a:ext cx="1783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K-Nearest Neighbor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Instance-based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ดู K ตัวที่ลักษณะใกล้ที่สุด แล้วโหวต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Hyperparameters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K, weights</a:t>
            </a:r>
            <a:endParaRPr lang="en-US" sz="1600" dirty="0"/>
          </a:p>
        </p:txBody>
      </p:sp>
      <p:sp>
        <p:nvSpPr>
          <p:cNvPr id="13" name="model Decision Tree"/>
          <p:cNvSpPr/>
          <p:nvPr/>
        </p:nvSpPr>
        <p:spPr>
          <a:xfrm>
            <a:off x="5047488" y="1280160"/>
            <a:ext cx="2103120" cy="374904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um"/>
          <p:cNvSpPr/>
          <p:nvPr/>
        </p:nvSpPr>
        <p:spPr>
          <a:xfrm>
            <a:off x="5230368" y="1463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30368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230368" y="2103120"/>
            <a:ext cx="1783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Decision Tree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Tree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แบ่งข้อมูลด้วยคำถาม ใช่/ไม่ใช่ ตาม Gini / Entropy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Hyperparameters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max_depth, min_samples_leaf</a:t>
            </a:r>
            <a:endParaRPr lang="en-US" sz="1600" dirty="0"/>
          </a:p>
        </p:txBody>
      </p:sp>
      <p:sp>
        <p:nvSpPr>
          <p:cNvPr id="17" name="model Random Forest"/>
          <p:cNvSpPr/>
          <p:nvPr/>
        </p:nvSpPr>
        <p:spPr>
          <a:xfrm>
            <a:off x="7296912" y="1280160"/>
            <a:ext cx="2103120" cy="374904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num"/>
          <p:cNvSpPr/>
          <p:nvPr/>
        </p:nvSpPr>
        <p:spPr>
          <a:xfrm>
            <a:off x="7479792" y="1463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79792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479792" y="2103120"/>
            <a:ext cx="1783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Random Forest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Ensemble · Bagging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ต้นไม้หลายต้นจากข้อมูลสุ่ม แล้วโหวตรวม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Hyperparameters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n_estimators, max_depth</a:t>
            </a:r>
            <a:endParaRPr lang="en-US" sz="1600" dirty="0"/>
          </a:p>
        </p:txBody>
      </p:sp>
      <p:sp>
        <p:nvSpPr>
          <p:cNvPr id="21" name="model Gradient Boosting"/>
          <p:cNvSpPr/>
          <p:nvPr/>
        </p:nvSpPr>
        <p:spPr>
          <a:xfrm>
            <a:off x="9546336" y="1280160"/>
            <a:ext cx="2103120" cy="374904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num"/>
          <p:cNvSpPr/>
          <p:nvPr/>
        </p:nvSpPr>
        <p:spPr>
          <a:xfrm>
            <a:off x="9729216" y="1463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729216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729216" y="2103120"/>
            <a:ext cx="1783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Gradient Boosting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Ensemble · Boosting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ต้นไม้ทีละต้น แก้ความผิดพลาดของต้นก่อน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Hyperparameters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learning_rate, max_iter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3035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เทียบกับ Baseline (DummyClassifier ทาย "ได้บ้าน" ทุกตัว) เพื่อพิสูจน์ว่าโมเดลเรียนรู้ได้จริง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ทฤษฎีและตัวชี้วัด</a:t>
            </a:r>
            <a:endParaRPr lang="en-US" sz="2800" dirty="0"/>
          </a:p>
        </p:txBody>
      </p:sp>
      <p:sp>
        <p:nvSpPr>
          <p:cNvPr id="3" name="section number"/>
          <p:cNvSpPr/>
          <p:nvPr/>
        </p:nvSpPr>
        <p:spPr>
          <a:xfrm>
            <a:off x="10972800" y="38404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5" name="frame f_147.jpg"/>
          <p:cNvSpPr/>
          <p:nvPr/>
        </p:nvSpPr>
        <p:spPr>
          <a:xfrm>
            <a:off x="548640" y="1188720"/>
            <a:ext cx="5394960" cy="3290697"/>
          </a:xfrm>
          <a:prstGeom prst="roundRect">
            <a:avLst>
              <a:gd name="adj" fmla="val 2223"/>
            </a:avLst>
          </a:prstGeom>
          <a:solidFill>
            <a:schemeClr val="bg2"/>
          </a:solidFill>
          <a:ln w="9525">
            <a:solidFill>
              <a:srgbClr val="DCD6D0"/>
            </a:solidFill>
            <a:prstDash val="solid"/>
          </a:ln>
          <a:effectLst>
            <a:outerShdw sx="100000" sy="100000" kx="0" ky="0" algn="bl" rotWithShape="0" blurRad="101600" dist="38100" dir="5400000">
              <a:srgbClr val="2B2D42">
                <a:alpha val="16000"/>
              </a:srgbClr>
            </a:outerShdw>
          </a:effectLst>
        </p:spPr>
      </p:sp>
      <p:sp>
        <p:nvSpPr>
          <p:cNvPr id="6" name="dot"/>
          <p:cNvSpPr/>
          <p:nvPr/>
        </p:nvSpPr>
        <p:spPr>
          <a:xfrm>
            <a:off x="685800" y="127101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dot"/>
          <p:cNvSpPr/>
          <p:nvPr/>
        </p:nvSpPr>
        <p:spPr>
          <a:xfrm>
            <a:off x="841248" y="127101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dot"/>
          <p:cNvSpPr/>
          <p:nvPr/>
        </p:nvSpPr>
        <p:spPr>
          <a:xfrm>
            <a:off x="996696" y="127101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121615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pet-adoption-042.streamlit.app</a:t>
            </a:r>
            <a:endParaRPr lang="en-US" sz="900" dirty="0"/>
          </a:p>
        </p:txBody>
      </p:sp>
      <p:pic>
        <p:nvPicPr>
          <p:cNvPr id="10" name="f_147.jpg" descr="img/f_14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44752"/>
            <a:ext cx="5358384" cy="301637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48640" y="4552569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แต่ละแท็บแสดงแนวคิด สมการ ข้อดี/ข้อจำกัด</a:t>
            </a:r>
            <a:endParaRPr lang="en-US" sz="1200" dirty="0"/>
          </a:p>
        </p:txBody>
      </p:sp>
      <p:sp>
        <p:nvSpPr>
          <p:cNvPr id="12" name="frame f_154.jpg"/>
          <p:cNvSpPr/>
          <p:nvPr/>
        </p:nvSpPr>
        <p:spPr>
          <a:xfrm>
            <a:off x="6217920" y="1188720"/>
            <a:ext cx="5394960" cy="3290697"/>
          </a:xfrm>
          <a:prstGeom prst="roundRect">
            <a:avLst>
              <a:gd name="adj" fmla="val 2223"/>
            </a:avLst>
          </a:prstGeom>
          <a:solidFill>
            <a:schemeClr val="bg2"/>
          </a:solidFill>
          <a:ln w="9525">
            <a:solidFill>
              <a:srgbClr val="DCD6D0"/>
            </a:solidFill>
            <a:prstDash val="solid"/>
          </a:ln>
          <a:effectLst>
            <a:outerShdw sx="100000" sy="100000" kx="0" ky="0" algn="bl" rotWithShape="0" blurRad="101600" dist="38100" dir="5400000">
              <a:srgbClr val="2B2D42">
                <a:alpha val="16000"/>
              </a:srgbClr>
            </a:outerShdw>
          </a:effectLst>
        </p:spPr>
      </p:sp>
      <p:sp>
        <p:nvSpPr>
          <p:cNvPr id="13" name="dot"/>
          <p:cNvSpPr/>
          <p:nvPr/>
        </p:nvSpPr>
        <p:spPr>
          <a:xfrm>
            <a:off x="6355080" y="127101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6510528" y="127101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5" name="dot"/>
          <p:cNvSpPr/>
          <p:nvPr/>
        </p:nvSpPr>
        <p:spPr>
          <a:xfrm>
            <a:off x="6665976" y="127101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903720" y="121615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pet-adoption-042.streamlit.app</a:t>
            </a:r>
            <a:endParaRPr lang="en-US" sz="900" dirty="0"/>
          </a:p>
        </p:txBody>
      </p:sp>
      <p:pic>
        <p:nvPicPr>
          <p:cNvPr id="17" name="f_154.jpg" descr="img/f_15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444752"/>
            <a:ext cx="5358384" cy="3016377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217920" y="4552569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สูตร Accuracy, Precision, Recall, F1 (macro), ROC-AUC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4983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ข้อมูลไม่สมดุล → ใช้ F1 (macro) และ ROC-AUC เป็นตัวชี้วัดหลัก เพราะ Baseline ที่ทายคลาสเดียวก็ได้ Accuracy 73% แล้ว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ตารางเปรียบเทียบโมเดล (Test set 2,279 ตัว)</a:t>
            </a:r>
            <a:endParaRPr lang="en-US" sz="2800" dirty="0"/>
          </a:p>
        </p:txBody>
      </p:sp>
      <p:sp>
        <p:nvSpPr>
          <p:cNvPr id="3" name="section number"/>
          <p:cNvSpPr/>
          <p:nvPr/>
        </p:nvSpPr>
        <p:spPr>
          <a:xfrm>
            <a:off x="10972800" y="38404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645920"/>
                <a:gridCol w="1645920"/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โมเดล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40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Test Accuracy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40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F1 (macro)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40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40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CV ROC-AUC (5-fold)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40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Train Accuracy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405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A8D99"/>
                          </a:solidFill>
                        </a:rPr>
                        <a:t>Baseline (Dummy)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D42"/>
                          </a:solidFill>
                        </a:rPr>
                        <a:t>0.7319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D42"/>
                          </a:solidFill>
                        </a:rPr>
                        <a:t>0.4226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D42"/>
                          </a:solidFill>
                        </a:rPr>
                        <a:t>0.5000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D42"/>
                          </a:solidFill>
                        </a:rPr>
                        <a:t>0.5000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D42"/>
                          </a:solidFill>
                        </a:rPr>
                        <a:t>0.7319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D42"/>
                          </a:solidFill>
                        </a:rPr>
                        <a:t>Logistic Regression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D42"/>
                          </a:solidFill>
                        </a:rPr>
                        <a:t>0.7420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D42"/>
                          </a:solidFill>
                        </a:rPr>
                        <a:t>0.5669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D42"/>
                          </a:solidFill>
                        </a:rPr>
                        <a:t>0.6939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D42"/>
                          </a:solidFill>
                        </a:rPr>
                        <a:t>0.7104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D42"/>
                          </a:solidFill>
                        </a:rPr>
                        <a:t>0.7499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D42"/>
                          </a:solidFill>
                        </a:rPr>
                        <a:t>KNN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D42"/>
                          </a:solidFill>
                        </a:rPr>
                        <a:t>0.7411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D42"/>
                          </a:solidFill>
                        </a:rPr>
                        <a:t>0.5596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D42"/>
                          </a:solidFill>
                        </a:rPr>
                        <a:t>0.6898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D42"/>
                          </a:solidFill>
                        </a:rPr>
                        <a:t>0.6883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D42"/>
                          </a:solidFill>
                        </a:rPr>
                        <a:t>0.7683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D42"/>
                          </a:solidFill>
                        </a:rPr>
                        <a:t>Decision Tree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D42"/>
                          </a:solidFill>
                        </a:rPr>
                        <a:t>0.7464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D42"/>
                          </a:solidFill>
                        </a:rPr>
                        <a:t>0.6025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D42"/>
                          </a:solidFill>
                        </a:rPr>
                        <a:t>0.7198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D42"/>
                          </a:solidFill>
                        </a:rPr>
                        <a:t>0.7304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D42"/>
                          </a:solidFill>
                        </a:rPr>
                        <a:t>0.7686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B2D42"/>
                          </a:solidFill>
                        </a:rPr>
                        <a:t>Random Forest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B2D42"/>
                          </a:solidFill>
                        </a:rPr>
                        <a:t>0.7600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D42"/>
                          </a:solidFill>
                        </a:rPr>
                        <a:t>0.6165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B2D42"/>
                          </a:solidFill>
                        </a:rPr>
                        <a:t>0.7592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B2D42"/>
                          </a:solidFill>
                        </a:rPr>
                        <a:t>0.7708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D42"/>
                          </a:solidFill>
                        </a:rPr>
                        <a:t>0.8382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D42"/>
                          </a:solidFill>
                        </a:rPr>
                        <a:t>Gradient Boosting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D42"/>
                          </a:solidFill>
                        </a:rPr>
                        <a:t>0.7468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B2D42"/>
                          </a:solidFill>
                        </a:rPr>
                        <a:t>0.6307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D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D42"/>
                          </a:solidFill>
                        </a:rPr>
                        <a:t>0.7549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D42"/>
                          </a:solidFill>
                        </a:rPr>
                        <a:t>0.7589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D42"/>
                          </a:solidFill>
                        </a:rPr>
                        <a:t>0.8576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983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Random Forest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ดีที่สุดด้าน Accuracy, ROC-AUC และ CV ส่วน Gradient Boosting ได้ F1 (macro) สูงสุด  ·  ช่อง Train Accuracy ใช้ดูการ Overfit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กราฟเปรียบเทียบโมเดล</a:t>
            </a:r>
            <a:endParaRPr lang="en-US" sz="2800" dirty="0"/>
          </a:p>
        </p:txBody>
      </p:sp>
      <p:sp>
        <p:nvSpPr>
          <p:cNvPr id="3" name="section number"/>
          <p:cNvSpPr/>
          <p:nvPr/>
        </p:nvSpPr>
        <p:spPr>
          <a:xfrm>
            <a:off x="10972800" y="38404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188720"/>
          <a:ext cx="67665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7543800" y="1188720"/>
          <a:ext cx="40690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Confusion Matrix และปัจจัยที่มีผลต่อการได้บ้าน</a:t>
            </a:r>
            <a:endParaRPr lang="en-US" sz="2800" dirty="0"/>
          </a:p>
        </p:txBody>
      </p:sp>
      <p:sp>
        <p:nvSpPr>
          <p:cNvPr id="3" name="section number"/>
          <p:cNvSpPr/>
          <p:nvPr/>
        </p:nvSpPr>
        <p:spPr>
          <a:xfrm>
            <a:off x="10972800" y="38404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5" name="frame f_178.jpg"/>
          <p:cNvSpPr/>
          <p:nvPr/>
        </p:nvSpPr>
        <p:spPr>
          <a:xfrm>
            <a:off x="548640" y="1188720"/>
            <a:ext cx="6583680" cy="3959352"/>
          </a:xfrm>
          <a:prstGeom prst="roundRect">
            <a:avLst>
              <a:gd name="adj" fmla="val 1848"/>
            </a:avLst>
          </a:prstGeom>
          <a:solidFill>
            <a:schemeClr val="bg2"/>
          </a:solidFill>
          <a:ln w="9525">
            <a:solidFill>
              <a:srgbClr val="DCD6D0"/>
            </a:solidFill>
            <a:prstDash val="solid"/>
          </a:ln>
          <a:effectLst>
            <a:outerShdw sx="100000" sy="100000" kx="0" ky="0" algn="bl" rotWithShape="0" blurRad="101600" dist="38100" dir="5400000">
              <a:srgbClr val="2B2D42">
                <a:alpha val="16000"/>
              </a:srgbClr>
            </a:outerShdw>
          </a:effectLst>
        </p:spPr>
      </p:sp>
      <p:sp>
        <p:nvSpPr>
          <p:cNvPr id="6" name="dot"/>
          <p:cNvSpPr/>
          <p:nvPr/>
        </p:nvSpPr>
        <p:spPr>
          <a:xfrm>
            <a:off x="685800" y="127101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dot"/>
          <p:cNvSpPr/>
          <p:nvPr/>
        </p:nvSpPr>
        <p:spPr>
          <a:xfrm>
            <a:off x="841248" y="127101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dot"/>
          <p:cNvSpPr/>
          <p:nvPr/>
        </p:nvSpPr>
        <p:spPr>
          <a:xfrm>
            <a:off x="996696" y="127101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12161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pet-adoption-042.streamlit.app</a:t>
            </a:r>
            <a:endParaRPr lang="en-US" sz="900" dirty="0"/>
          </a:p>
        </p:txBody>
      </p:sp>
      <p:pic>
        <p:nvPicPr>
          <p:cNvPr id="10" name="f_178.jpg" descr="img/f_17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44752"/>
            <a:ext cx="6547104" cy="368503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48640" y="522122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Confusion Matrix ทุกโมเดล และ Feature Importance ของ Random Forest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498080" y="12801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12801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อายุ (Age)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ยิ่งอายุน้อยยิ่งได้บ้านเร็ว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0" y="246888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24688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ความยาวคำบรรยาย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ประกาศละเอียดช่วยได้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7498080" y="36576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</a:t>
            </a:r>
            <a:endParaRPr lang="en-US" sz="40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0" y="36576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จำนวนรูป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รูปมากยิ่งน่าสนใจ</a:t>
            </a:r>
            <a:endParaRPr lang="en-US" sz="1700" dirty="0"/>
          </a:p>
        </p:txBody>
      </p:sp>
      <p:sp>
        <p:nvSpPr>
          <p:cNvPr id="18" name="card ข้อสังเกต"/>
          <p:cNvSpPr/>
          <p:nvPr/>
        </p:nvSpPr>
        <p:spPr>
          <a:xfrm>
            <a:off x="7498080" y="4892040"/>
            <a:ext cx="411480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680960" y="5001768"/>
            <a:ext cx="37490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</a:rPr>
              <a:t>ข้อสังเกต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ทุกโมเดลทายคลาส "ไม่ได้บ้าน" ได้ยากกว่า เพราะมีตัวอย่างน้อยกว่า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Streamlit Application</a:t>
            </a:r>
            <a:endParaRPr lang="en-US" sz="2800" dirty="0"/>
          </a:p>
        </p:txBody>
      </p:sp>
      <p:sp>
        <p:nvSpPr>
          <p:cNvPr id="3" name="section number"/>
          <p:cNvSpPr/>
          <p:nvPr/>
        </p:nvSpPr>
        <p:spPr>
          <a:xfrm>
            <a:off x="10972800" y="38404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5" name="frame f_212.jpg"/>
          <p:cNvSpPr/>
          <p:nvPr/>
        </p:nvSpPr>
        <p:spPr>
          <a:xfrm>
            <a:off x="548640" y="1188720"/>
            <a:ext cx="5394960" cy="3290697"/>
          </a:xfrm>
          <a:prstGeom prst="roundRect">
            <a:avLst>
              <a:gd name="adj" fmla="val 2223"/>
            </a:avLst>
          </a:prstGeom>
          <a:solidFill>
            <a:schemeClr val="bg2"/>
          </a:solidFill>
          <a:ln w="9525">
            <a:solidFill>
              <a:srgbClr val="DCD6D0"/>
            </a:solidFill>
            <a:prstDash val="solid"/>
          </a:ln>
          <a:effectLst>
            <a:outerShdw sx="100000" sy="100000" kx="0" ky="0" algn="bl" rotWithShape="0" blurRad="101600" dist="38100" dir="5400000">
              <a:srgbClr val="2B2D42">
                <a:alpha val="16000"/>
              </a:srgbClr>
            </a:outerShdw>
          </a:effectLst>
        </p:spPr>
      </p:sp>
      <p:sp>
        <p:nvSpPr>
          <p:cNvPr id="6" name="dot"/>
          <p:cNvSpPr/>
          <p:nvPr/>
        </p:nvSpPr>
        <p:spPr>
          <a:xfrm>
            <a:off x="685800" y="127101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dot"/>
          <p:cNvSpPr/>
          <p:nvPr/>
        </p:nvSpPr>
        <p:spPr>
          <a:xfrm>
            <a:off x="841248" y="127101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dot"/>
          <p:cNvSpPr/>
          <p:nvPr/>
        </p:nvSpPr>
        <p:spPr>
          <a:xfrm>
            <a:off x="996696" y="127101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121615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pet-adoption-042.streamlit.app</a:t>
            </a:r>
            <a:endParaRPr lang="en-US" sz="900" dirty="0"/>
          </a:p>
        </p:txBody>
      </p:sp>
      <p:pic>
        <p:nvPicPr>
          <p:cNvPr id="10" name="f_212.jpg" descr="img/f_2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44752"/>
            <a:ext cx="5358384" cy="301637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48640" y="4552569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กรอกข้อมูลสัตว์เลี้ยง → ทุกโมเดลทำนายโอกาสได้บ้าน + คำแนะนำ</a:t>
            </a:r>
            <a:endParaRPr lang="en-US" sz="1200" dirty="0"/>
          </a:p>
        </p:txBody>
      </p:sp>
      <p:sp>
        <p:nvSpPr>
          <p:cNvPr id="12" name="frame f_224.jpg"/>
          <p:cNvSpPr/>
          <p:nvPr/>
        </p:nvSpPr>
        <p:spPr>
          <a:xfrm>
            <a:off x="6217920" y="1188720"/>
            <a:ext cx="5394960" cy="3290697"/>
          </a:xfrm>
          <a:prstGeom prst="roundRect">
            <a:avLst>
              <a:gd name="adj" fmla="val 2223"/>
            </a:avLst>
          </a:prstGeom>
          <a:solidFill>
            <a:schemeClr val="bg2"/>
          </a:solidFill>
          <a:ln w="9525">
            <a:solidFill>
              <a:srgbClr val="DCD6D0"/>
            </a:solidFill>
            <a:prstDash val="solid"/>
          </a:ln>
          <a:effectLst>
            <a:outerShdw sx="100000" sy="100000" kx="0" ky="0" algn="bl" rotWithShape="0" blurRad="101600" dist="38100" dir="5400000">
              <a:srgbClr val="2B2D42">
                <a:alpha val="16000"/>
              </a:srgbClr>
            </a:outerShdw>
          </a:effectLst>
        </p:spPr>
      </p:sp>
      <p:sp>
        <p:nvSpPr>
          <p:cNvPr id="13" name="dot"/>
          <p:cNvSpPr/>
          <p:nvPr/>
        </p:nvSpPr>
        <p:spPr>
          <a:xfrm>
            <a:off x="6355080" y="127101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6510528" y="127101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5" name="dot"/>
          <p:cNvSpPr/>
          <p:nvPr/>
        </p:nvSpPr>
        <p:spPr>
          <a:xfrm>
            <a:off x="6665976" y="127101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903720" y="121615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pet-adoption-042.streamlit.app</a:t>
            </a:r>
            <a:endParaRPr lang="en-US" sz="900" dirty="0"/>
          </a:p>
        </p:txBody>
      </p:sp>
      <p:pic>
        <p:nvPicPr>
          <p:cNvPr id="17" name="f_224.jpg" descr="img/f_22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444752"/>
            <a:ext cx="5358384" cy="3016377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217920" y="4552569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ทดลองปรับ Hyperparameter แล้วดูผลประเมินเปลี่ยนทันที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5029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เว็บไซต์: </a:t>
            </a:r>
            <a:pPr indent="0" marL="0">
              <a:buNone/>
            </a:pPr>
            <a:r>
              <a:rPr lang="en-US" sz="1500" u="sng" dirty="0">
                <a:solidFill>
                  <a:schemeClr val="accent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https://pet-adoption-042.streamlit.app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เมนูเว็บ: หน้าแรก (ข้อมูลผู้พัฒนา) · 1 ปัญหาและ Dataset · 2 Preprocessing · 3 ทฤษฎีโมเดล · 4 ประเมินผล · 5 Application · ไฟล์ประกอบ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สรุปผล</a:t>
            </a:r>
            <a:endParaRPr lang="en-US" sz="3400" dirty="0"/>
          </a:p>
        </p:txBody>
      </p:sp>
      <p:sp>
        <p:nvSpPr>
          <p:cNvPr id="3" name="concl 0"/>
          <p:cNvSpPr/>
          <p:nvPr/>
        </p:nvSpPr>
        <p:spPr>
          <a:xfrm>
            <a:off x="731520" y="164592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4A4D6B"/>
          </a:solidFill>
          <a:ln w="12700">
            <a:solidFill>
              <a:srgbClr val="4A4D6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78308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2CC8F"/>
                </a:solidFill>
              </a:rPr>
              <a:t>Random Forest ดีที่สุด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ROC-AUC 0.759, Accuracy 0.760, CV 0.771 ± 0.007</a:t>
            </a:r>
            <a:endParaRPr lang="en-US" sz="1700" dirty="0"/>
          </a:p>
        </p:txBody>
      </p:sp>
      <p:sp>
        <p:nvSpPr>
          <p:cNvPr id="5" name="concl 1"/>
          <p:cNvSpPr/>
          <p:nvPr/>
        </p:nvSpPr>
        <p:spPr>
          <a:xfrm>
            <a:off x="6172200" y="164592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4A4D6B"/>
          </a:solidFill>
          <a:ln w="12700">
            <a:solidFill>
              <a:srgbClr val="4A4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2CC8F"/>
                </a:solidFill>
              </a:rPr>
              <a:t>ทุกโมเดลดีกว่า Baseline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F1 (macro) 0.56-0.63 เทียบกับ 0.42 ของการเดาคลาสเดียว</a:t>
            </a:r>
            <a:endParaRPr lang="en-US" sz="1700" dirty="0"/>
          </a:p>
        </p:txBody>
      </p:sp>
      <p:sp>
        <p:nvSpPr>
          <p:cNvPr id="7" name="concl 2"/>
          <p:cNvSpPr/>
          <p:nvPr/>
        </p:nvSpPr>
        <p:spPr>
          <a:xfrm>
            <a:off x="731520" y="324612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4A4D6B"/>
          </a:solidFill>
          <a:ln w="12700">
            <a:solidFill>
              <a:srgbClr val="4A4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338328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2CC8F"/>
                </a:solidFill>
              </a:rPr>
              <a:t>ปัจจัยสำคัญ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อายุ ความยาวคำบรรยาย และจำนวนรูป</a:t>
            </a:r>
            <a:endParaRPr lang="en-US" sz="1700" dirty="0"/>
          </a:p>
        </p:txBody>
      </p:sp>
      <p:sp>
        <p:nvSpPr>
          <p:cNvPr id="9" name="concl 3"/>
          <p:cNvSpPr/>
          <p:nvPr/>
        </p:nvSpPr>
        <p:spPr>
          <a:xfrm>
            <a:off x="6172200" y="324612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4A4D6B"/>
          </a:solidFill>
          <a:ln w="12700">
            <a:solidFill>
              <a:srgbClr val="4A4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338328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2CC8F"/>
                </a:solidFill>
              </a:rPr>
              <a:t>นำไปใช้ได้จริง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ศูนย์พักพิงใช้เว็บคัดกรองสัตว์ที่เสี่ยงไม่ได้บ้าน แล้วปรับประกาศให้ดีขึ้น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98348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</a:rPr>
              <a:t>GitHub: </a:t>
            </a:r>
            <a:pPr indent="0" marL="0">
              <a:buNone/>
            </a:pPr>
            <a:r>
              <a:rPr lang="en-US" sz="1300" u="sng" dirty="0">
                <a:solidFill>
                  <a:srgbClr val="FFFFFF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https://github.com/Phinnita/Pet-Adoption-Prediction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498348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</a:rPr>
              <a:t>เว็บไซต์: </a:t>
            </a:r>
            <a:pPr indent="0" marL="0">
              <a:buNone/>
            </a:pPr>
            <a:r>
              <a:rPr lang="en-US" sz="1300" u="sng" dirty="0">
                <a:solidFill>
                  <a:srgbClr val="FFFFFF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https://pet-adoption-042.streamlit.app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44068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</a:rPr>
              <a:t>YouTube: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ใส่ลิงก์ YouTube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544068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</a:rPr>
              <a:t>Google Colab: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ใส่ลิงก์ Colab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6172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CEA"/>
                </a:solidFill>
              </a:rPr>
              <a:t>นางสาวภิญนิตา ซิ่วมณี  |  664245042  |  หมู่เรียน 66/44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t Adoption">
  <a:themeElements>
    <a:clrScheme name="Pet Adoption">
      <a:dk1>
        <a:srgbClr val="2B2D42"/>
      </a:dk1>
      <a:lt1>
        <a:srgbClr val="FFFFFF"/>
      </a:lt1>
      <a:dk2>
        <a:srgbClr val="3D405B"/>
      </a:dk2>
      <a:lt2>
        <a:srgbClr val="F6F3F0"/>
      </a:lt2>
      <a:accent1>
        <a:srgbClr val="E07A5F"/>
      </a:accent1>
      <a:accent2>
        <a:srgbClr val="81B29A"/>
      </a:accent2>
      <a:accent3>
        <a:srgbClr val="3D405B"/>
      </a:accent3>
      <a:accent4>
        <a:srgbClr val="F2CC8F"/>
      </a:accent4>
      <a:accent5>
        <a:srgbClr val="6D9DC5"/>
      </a:accent5>
      <a:accent6>
        <a:srgbClr val="8A8D99"/>
      </a:accent6>
      <a:hlink>
        <a:srgbClr val="E07A5F"/>
      </a:hlink>
      <a:folHlink>
        <a:srgbClr val="8A8D99"/>
      </a:folHlink>
    </a:clrScheme>
    <a:fontScheme name="Pet Adoption">
      <a:majorFont>
        <a:latin typeface="Tahom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 Adoption Prediction</dc:title>
  <dc:subject>PptxGenJS Presentation</dc:subject>
  <dc:creator>นางสาวภิญนิตา ซิ่วมณี</dc:creator>
  <cp:lastModifiedBy>นางสาวภิญนิตา ซิ่วมณี</cp:lastModifiedBy>
  <cp:revision>1</cp:revision>
  <dcterms:created xsi:type="dcterms:W3CDTF">2026-10-29T08:45:00Z</dcterms:created>
  <dcterms:modified xsi:type="dcterms:W3CDTF">2026-10-29T08:45:00Z</dcterms:modified>
</cp:coreProperties>
</file>